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4E79"/>
                </a:solidFill>
              </a:rPr>
              <a:t>Haritha Hospitals
Powered by ERPNext + HRMS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0.1-what-is-erp-frappe-h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603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[Visual: 00.1-what-is-erp-frappe-hrms.png]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1. The challenge we solve</a:t>
            </a:r>
          </a:p>
          <a:p>
            <a:r>
              <a:rPr sz="1800">
                <a:solidFill>
                  <a:srgbClr val="333333"/>
                </a:solidFill>
              </a:rPr>
              <a:t>2. Why ERPNext + HRMS (and not SAP / Oracle / spreadsheets)</a:t>
            </a:r>
          </a:p>
          <a:p>
            <a:r>
              <a:rPr sz="1800">
                <a:solidFill>
                  <a:srgbClr val="333333"/>
                </a:solidFill>
              </a:rPr>
              <a:t>3. Shift workflow — daily operations</a:t>
            </a:r>
          </a:p>
          <a:p>
            <a:r>
              <a:rPr sz="1800">
                <a:solidFill>
                  <a:srgbClr val="333333"/>
                </a:solidFill>
              </a:rPr>
              <a:t>4. Shift types &amp; color coding</a:t>
            </a:r>
          </a:p>
          <a:p>
            <a:r>
              <a:rPr sz="1800">
                <a:solidFill>
                  <a:srgbClr val="333333"/>
                </a:solidFill>
              </a:rPr>
              <a:t>5. Shift management — our differentiator</a:t>
            </a:r>
          </a:p>
          <a:p>
            <a:r>
              <a:rPr sz="1800">
                <a:solidFill>
                  <a:srgbClr val="333333"/>
                </a:solidFill>
              </a:rPr>
              <a:t>6. **Live demo:** Roster → Attendance</a:t>
            </a:r>
          </a:p>
          <a:p>
            <a:r>
              <a:rPr sz="1800">
                <a:solidFill>
                  <a:srgbClr val="333333"/>
                </a:solidFill>
              </a:rPr>
              <a:t>7. Customization showcase — `haritha_hospital` app</a:t>
            </a:r>
          </a:p>
          <a:p>
            <a:r>
              <a:rPr sz="1800">
                <a:solidFill>
                  <a:srgbClr val="333333"/>
                </a:solidFill>
              </a:rPr>
              <a:t>8. Business impact (real Haritha data)</a:t>
            </a:r>
          </a:p>
          <a:p>
            <a:r>
              <a:rPr sz="1800">
                <a:solidFill>
                  <a:srgbClr val="333333"/>
                </a:solidFill>
              </a:rPr>
              <a:t>9. Implementation methodology</a:t>
            </a:r>
          </a:p>
          <a:p>
            <a:r>
              <a:rPr sz="1800">
                <a:solidFill>
                  <a:srgbClr val="333333"/>
                </a:solidFill>
              </a:rPr>
              <a:t>10. Reference deployments &amp; team</a:t>
            </a:r>
          </a:p>
          <a:p>
            <a:r>
              <a:rPr sz="1800">
                <a:solidFill>
                  <a:srgbClr val="333333"/>
                </a:solidFill>
              </a:rPr>
              <a:t>11. Next steps</a:t>
            </a:r>
          </a:p>
          <a:p>
            <a:r>
              <a:rPr sz="1800">
                <a:solidFill>
                  <a:srgbClr val="333333"/>
                </a:solidFill>
              </a:rPr>
              <a:t>12. Q&amp;A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Set expectations — "We'll do a live demo in section 6; everything before is context so the demo lands harder. Section 8 has the actual numbers from our hospital."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**Hospital operations don't run 9-to-5. Most HR systems do.**</a:t>
            </a:r>
          </a:p>
          <a:p>
            <a:r>
              <a:rPr sz="1800">
                <a:solidFill>
                  <a:srgbClr val="333333"/>
                </a:solidFill>
              </a:rPr>
              <a:t>•  **24/7 operations** — ICU night, emergency, security all need rostered coverage</a:t>
            </a:r>
          </a:p>
          <a:p>
            <a:r>
              <a:rPr sz="1800">
                <a:solidFill>
                  <a:srgbClr val="333333"/>
                </a:solidFill>
              </a:rPr>
              <a:t>•  **200+ employees across 36 departments** (Nursing, Pharmacy, Lab, Housekeeping, Security, Admin, Billing, …)</a:t>
            </a:r>
          </a:p>
          <a:p>
            <a:r>
              <a:rPr sz="1800">
                <a:solidFill>
                  <a:srgbClr val="333333"/>
                </a:solidFill>
              </a:rPr>
              <a:t>•  **Shift scheduling errors = patient safety risk** (not just an HR problem)</a:t>
            </a:r>
          </a:p>
          <a:p>
            <a:r>
              <a:rPr sz="1800">
                <a:solidFill>
                  <a:srgbClr val="333333"/>
                </a:solidFill>
              </a:rPr>
              <a:t>•  **Manual attendance reconciliation** — phone calls, paper registers, biometric logs that don't match HR</a:t>
            </a:r>
          </a:p>
          <a:p>
            <a:r>
              <a:rPr sz="1800">
                <a:solidFill>
                  <a:srgbClr val="333333"/>
                </a:solidFill>
              </a:rPr>
              <a:t>•  **Shift disputes** from mismatches and missed punch corrections</a:t>
            </a:r>
          </a:p>
          <a:p>
            <a:r>
              <a:rPr sz="1800">
                <a:solidFill>
                  <a:srgbClr val="333333"/>
                </a:solidFill>
              </a:rPr>
              <a:t>•  **No single source of truth** — same employee lives in 3 systems (biometric, Excel, attendance register)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Pause on "patient safety risk." This is not "an HR headache" — it's the same data that decides who's on shift when an incident happens. If anyone asks "why not stick with Excel?", the answer is "Excel doesn't audit, doesn't alert, doesn't survive a server crash, and doesn't run a hospital."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Why ERPNext + HRMS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| | **Haritha ERPNext** | SAP S/4HANA | Oracle NetSuite | MS Dynamics | Excel + paper |</a:t>
            </a:r>
          </a:p>
          <a:p>
            <a:r>
              <a:rPr sz="1800">
                <a:solidFill>
                  <a:srgbClr val="333333"/>
                </a:solidFill>
              </a:rPr>
              <a:t>|---|---|---|---|---|---|</a:t>
            </a:r>
          </a:p>
          <a:p>
            <a:r>
              <a:rPr sz="1800">
                <a:solidFill>
                  <a:srgbClr val="333333"/>
                </a:solidFill>
              </a:rPr>
              <a:t>| **License** | Free (AGPL) | $$$$ per-user | $$$$ per-user | $$$$ per-user | Free |</a:t>
            </a:r>
          </a:p>
          <a:p>
            <a:r>
              <a:rPr sz="1800">
                <a:solidFill>
                  <a:srgbClr val="333333"/>
                </a:solidFill>
              </a:rPr>
              <a:t>| **HRMS depth** | Excellent (first-class) | Strong | Strong | Strong | None |</a:t>
            </a:r>
          </a:p>
          <a:p>
            <a:r>
              <a:rPr sz="1800">
                <a:solidFill>
                  <a:srgbClr val="333333"/>
                </a:solidFill>
              </a:rPr>
              <a:t>| **India-aware (GST, e-invoicing)** | Built-in | Localized | Localized | Localized | Manual |</a:t>
            </a:r>
          </a:p>
          <a:p>
            <a:r>
              <a:rPr sz="1800">
                <a:solidFill>
                  <a:srgbClr val="333333"/>
                </a:solidFill>
              </a:rPr>
              <a:t>| **Vendor lock-in** | None | High | Medium | Medium | Total (your spreadsheets) |</a:t>
            </a:r>
          </a:p>
          <a:p>
            <a:r>
              <a:rPr sz="1800">
                <a:solidFill>
                  <a:srgbClr val="333333"/>
                </a:solidFill>
              </a:rPr>
              <a:t>| **Implementation time** | 1–2 weeks | 6–18 months | 3–9 months | 3–9 months | n/a |</a:t>
            </a:r>
          </a:p>
          <a:p>
            <a:r>
              <a:rPr sz="1800">
                <a:solidFill>
                  <a:srgbClr val="333333"/>
                </a:solidFill>
              </a:rPr>
              <a:t>| **3-yr total cost of ownership** | Low [TBD — benchmark TBD] | Very high | High | High | Hidden (audit risk, errors) |</a:t>
            </a:r>
          </a:p>
          <a:p>
            <a:r>
              <a:rPr sz="1800">
                <a:solidFill>
                  <a:srgbClr val="333333"/>
                </a:solidFill>
              </a:rPr>
              <a:t>| **Customizable without forking** | ✅ Custom Fields + custom app | ❌ | ❌ | ❌ | n/a |</a:t>
            </a:r>
          </a:p>
          <a:p>
            <a:r>
              <a:rPr sz="1800">
                <a:solidFill>
                  <a:srgbClr val="333333"/>
                </a:solidFill>
              </a:rPr>
              <a:t>| **Audit trail out of the box** | ✅ | ✅ | ✅ | ✅ | ❌ |</a:t>
            </a:r>
          </a:p>
          <a:p>
            <a:r>
              <a:rPr sz="1800">
                <a:solidFill>
                  <a:srgbClr val="333333"/>
                </a:solidFill>
              </a:rPr>
              <a:t>| **Mobile check-in with geo-fence** | ✅ HRMS app | Add-on | Add-on | Add-on | ❌ |</a:t>
            </a:r>
          </a:p>
          <a:p>
            <a:r>
              <a:rPr sz="1800">
                <a:solidFill>
                  <a:srgbClr val="333333"/>
                </a:solidFill>
              </a:rPr>
              <a:t>**Why we picked ERPNext:**</a:t>
            </a:r>
          </a:p>
          <a:p>
            <a:r>
              <a:rPr sz="1800">
                <a:solidFill>
                  <a:srgbClr val="333333"/>
                </a:solidFill>
              </a:rPr>
              <a:t>1. **Open source** — no per-user fees, no "call us to unlock your data"</a:t>
            </a:r>
          </a:p>
          <a:p>
            <a:r>
              <a:rPr sz="1800">
                <a:solidFill>
                  <a:srgbClr val="333333"/>
                </a:solidFill>
              </a:rPr>
              <a:t>2. **HRMS-first** — HR is a first-class module, not bolted on</a:t>
            </a:r>
          </a:p>
          <a:p>
            <a:r>
              <a:rPr sz="1800">
                <a:solidFill>
                  <a:srgbClr val="333333"/>
                </a:solidFill>
              </a:rPr>
              <a:t>3. **India-aware** — GST, e-invoicing, Professional Tax built in</a:t>
            </a:r>
          </a:p>
          <a:p>
            <a:r>
              <a:rPr sz="1800">
                <a:solidFill>
                  <a:srgbClr val="333333"/>
                </a:solidFill>
              </a:rPr>
              <a:t>4. **Customizable without forking core** — 274 customizations, zero patches to upstream</a:t>
            </a:r>
          </a:p>
          <a:p>
            <a:r>
              <a:rPr sz="1800">
                <a:solidFill>
                  <a:srgbClr val="333333"/>
                </a:solidFill>
              </a:rPr>
              <a:t>5. **Self-hostable** — full data ownership, your GitHub, your MariaDB</a:t>
            </a:r>
          </a:p>
          <a:p>
            <a:r>
              <a:rPr sz="1800">
                <a:solidFill>
                  <a:srgbClr val="333333"/>
                </a:solidFill>
              </a:rPr>
              <a:t>6. **Active community** — Frappe has 5,000+ contributors; HRMS is maintained by Frappe's own team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If a CFO is in the room, the cost line is the headline. If an IT lead is in the room, "no vendor lock-in" + "your GitHub" wins. If an HR head is in the room, "HRMS-first" + "shift management built in" is the line. Pick the line that fits the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Shift Workflow — Daily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-06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screenshot-06-roster.png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Shift Types &amp; Color 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.2-process-diagram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580353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02.2-process-diagram-05.png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Shift Management — Our Differentiator 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.1-shift-managem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349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02.1-shift-management-workflow.png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-06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screenshot-06-roster.png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Customization Showcase — `haritha_hospital`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.2-process-diagra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15650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02.2-process-diagram-01.png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**Real numbers from Haritha's production deployment. \[TBD] = pending customer pilot benchmark.**</a:t>
            </a:r>
          </a:p>
          <a:p>
            <a:r>
              <a:rPr sz="1800">
                <a:solidFill>
                  <a:srgbClr val="333333"/>
                </a:solidFill>
              </a:rPr>
              <a:t>| Metric | Before (typical) | After (Haritha today) | Source |</a:t>
            </a:r>
          </a:p>
          <a:p>
            <a:r>
              <a:rPr sz="1800">
                <a:solidFill>
                  <a:srgbClr val="333333"/>
                </a:solidFill>
              </a:rPr>
              <a:t>|---|---|---|---|</a:t>
            </a:r>
          </a:p>
          <a:p>
            <a:r>
              <a:rPr sz="1800">
                <a:solidFill>
                  <a:srgbClr val="333333"/>
                </a:solidFill>
              </a:rPr>
              <a:t>| **Employees on system** | n/a | 210 active | 03.1 |</a:t>
            </a:r>
          </a:p>
          <a:p>
            <a:r>
              <a:rPr sz="1800">
                <a:solidFill>
                  <a:srgbClr val="333333"/>
                </a:solidFill>
              </a:rPr>
              <a:t>| **Shift assignments managed** | n/a | 8,000+ across 25 shifts | 03.1 |</a:t>
            </a:r>
          </a:p>
          <a:p>
            <a:r>
              <a:rPr sz="1800">
                <a:solidFill>
                  <a:srgbClr val="333333"/>
                </a:solidFill>
              </a:rPr>
              <a:t>| **Attendance records processed** | n/a | 6,300+ monthly | 03.1 |</a:t>
            </a:r>
          </a:p>
          <a:p>
            <a:r>
              <a:rPr sz="1800">
                <a:solidFill>
                  <a:srgbClr val="333333"/>
                </a:solidFill>
              </a:rPr>
              <a:t>| **Departments** | n/a | 36 | 03.1 |</a:t>
            </a:r>
          </a:p>
          <a:p>
            <a:r>
              <a:rPr sz="1800">
                <a:solidFill>
                  <a:srgbClr val="333333"/>
                </a:solidFill>
              </a:rPr>
              <a:t>| **Designations** | n/a | 51 | 03.1 |</a:t>
            </a:r>
          </a:p>
          <a:p>
            <a:r>
              <a:rPr sz="1800">
                <a:solidFill>
                  <a:srgbClr val="333333"/>
                </a:solidFill>
              </a:rPr>
              <a:t>| **Auto-attendance latency** | Manual end-of-day | ≤ 60 seconds (every-minute scheduler) | 02.1 |</a:t>
            </a:r>
          </a:p>
          <a:p>
            <a:r>
              <a:rPr sz="1800">
                <a:solidFill>
                  <a:srgbClr val="333333"/>
                </a:solidFill>
              </a:rPr>
              <a:t>| **Shift visibility (manager view)** | Manual register / Excel | 100% via Roster SPA | 03.1 |</a:t>
            </a:r>
          </a:p>
          <a:p>
            <a:r>
              <a:rPr sz="1800">
                <a:solidFill>
                  <a:srgbClr val="333333"/>
                </a:solidFill>
              </a:rPr>
              <a:t>| **Audit trail** | None | Every change: author + timestamp + before/after | 03.3 |</a:t>
            </a:r>
          </a:p>
          <a:p>
            <a:r>
              <a:rPr sz="1800">
                <a:solidFill>
                  <a:srgbClr val="333333"/>
                </a:solidFill>
              </a:rPr>
              <a:t>| **Backup recovery (RTO / RPO)** | \[TBD] | 2 hours / 24 hours (documented &amp; tested) | 03.3 |</a:t>
            </a:r>
          </a:p>
          <a:p>
            <a:r>
              <a:rPr sz="1800">
                <a:solidFill>
                  <a:srgbClr val="333333"/>
                </a:solidFill>
              </a:rPr>
              <a:t>| **TCO vs SAP (industry benchmark)** | n/a | \[TBD — benchmark TBD] | — |</a:t>
            </a:r>
          </a:p>
          <a:p>
            <a:r>
              <a:rPr sz="1800">
                <a:solidFill>
                  <a:srgbClr val="333333"/>
                </a:solidFill>
              </a:rPr>
              <a:t>| **Onboarding new employee** | \[TBD] | ≤ 1 day (single Employee record + Shift Assignment) | 02.1 |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Be honest about the \[TBD]s. "We have the deployment data; the *benchmark* numbers — like TCO vs SAP — we haven't published. We'll commit to those as part of the pilot." This honesty is more credible than making up percentages.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Implementation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.2-process-diagram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280160"/>
            <a:ext cx="9144000" cy="68118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</a:rPr>
              <a:t>source: 02.2-process-diagram-04.png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Reference Deployments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**Frappe + ERPNext + HRMS is widely deployed in Indian hospitals. We're one of them.**</a:t>
            </a:r>
          </a:p>
          <a:p>
            <a:r>
              <a:rPr sz="1800">
                <a:solidFill>
                  <a:srgbClr val="333333"/>
                </a:solidFill>
              </a:rPr>
              <a:t>| Reference | Deployment | What they did |</a:t>
            </a:r>
          </a:p>
          <a:p>
            <a:r>
              <a:rPr sz="1800">
                <a:solidFill>
                  <a:srgbClr val="333333"/>
                </a:solidFill>
              </a:rPr>
              <a:t>|---|---|---|</a:t>
            </a:r>
          </a:p>
          <a:p>
            <a:r>
              <a:rPr sz="1800">
                <a:solidFill>
                  <a:srgbClr val="333333"/>
                </a:solidFill>
              </a:rPr>
              <a:t>| **Haritha Hospitals** (us) | ERPNext + HRMS + `haritha_hospital` custom app | 210 employees, 24/7 hospital, 8 months in production |</a:t>
            </a:r>
          </a:p>
          <a:p>
            <a:r>
              <a:rPr sz="1800">
                <a:solidFill>
                  <a:srgbClr val="333333"/>
                </a:solidFill>
              </a:rPr>
              <a:t>| Other Indian hospital deployments on ERPNext | Various Frappe partners | Multi-site, OPD billing, lab integration |</a:t>
            </a:r>
          </a:p>
          <a:p>
            <a:r>
              <a:rPr sz="1800">
                <a:solidFill>
                  <a:srgbClr val="333333"/>
                </a:solidFill>
              </a:rPr>
              <a:t>\[TBD — add 2–3 named reference deployments from NestorBird / Ksolves / Contetra if available; otherwise leave as category-level evidence.]</a:t>
            </a:r>
          </a:p>
          <a:p>
            <a:r>
              <a:rPr sz="1800">
                <a:solidFill>
                  <a:srgbClr val="333333"/>
                </a:solidFill>
              </a:rPr>
              <a:t>**Why open source + ERPNext + healthcare is a known-good combination:**</a:t>
            </a:r>
          </a:p>
          <a:p>
            <a:r>
              <a:rPr sz="1800">
                <a:solidFill>
                  <a:srgbClr val="333333"/>
                </a:solidFill>
              </a:rPr>
              <a:t>•  Frappe Healthcare module is upstream-supported (frappe.io/erpnext/for-healthcare)</a:t>
            </a:r>
          </a:p>
          <a:p>
            <a:r>
              <a:rPr sz="1800">
                <a:solidFill>
                  <a:srgbClr val="333333"/>
                </a:solidFill>
              </a:rPr>
              <a:t>•  Frappe HRMS Shifts &amp; Attendance is upstream-supported (frappe.io/hr/shifts-and-attendance)</a:t>
            </a:r>
          </a:p>
          <a:p>
            <a:r>
              <a:rPr sz="1800">
                <a:solidFill>
                  <a:srgbClr val="333333"/>
                </a:solidFill>
              </a:rPr>
              <a:t>•  Multiple Frappe partners in India specialize in hospital deployments</a:t>
            </a:r>
          </a:p>
          <a:p>
            <a:r>
              <a:rPr sz="1800">
                <a:solidFill>
                  <a:srgbClr val="333333"/>
                </a:solidFill>
              </a:rPr>
              <a:t>•  ERPNext Conference community (2022+) regularly features hospital case studies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"We can't publish named customer logos without their permission — that's why the slide is category-level. We're happy to set up a reference call once you're further along in the evaluation."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Our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**Processbricks — domain expertise meets open-source delivery.**</a:t>
            </a:r>
          </a:p>
          <a:p>
            <a:r>
              <a:rPr sz="1800">
                <a:solidFill>
                  <a:srgbClr val="333333"/>
                </a:solidFill>
              </a:rPr>
              <a:t>•  **Venkat Narasimha** — Lead</a:t>
            </a:r>
          </a:p>
          <a:p>
            <a:r>
              <a:rPr sz="1800">
                <a:solidFill>
                  <a:srgbClr val="333333"/>
                </a:solidFill>
              </a:rPr>
              <a:t>  - 10+ years in HR tech</a:t>
            </a:r>
          </a:p>
          <a:p>
            <a:r>
              <a:rPr sz="1800">
                <a:solidFill>
                  <a:srgbClr val="333333"/>
                </a:solidFill>
              </a:rPr>
              <a:t>  - Open-source contributor (Frappe / ERPNext / HRMS)</a:t>
            </a:r>
          </a:p>
          <a:p>
            <a:r>
              <a:rPr sz="1800">
                <a:solidFill>
                  <a:srgbClr val="333333"/>
                </a:solidFill>
              </a:rPr>
              <a:t>  - Architect of the Haritha Hospitals deployment</a:t>
            </a:r>
          </a:p>
          <a:p>
            <a:r>
              <a:rPr sz="1800">
                <a:solidFill>
                  <a:srgbClr val="333333"/>
                </a:solidFill>
              </a:rPr>
              <a:t>  - Contact: srivenkatnarasimha@gmail.com</a:t>
            </a:r>
          </a:p>
          <a:p>
            <a:r>
              <a:rPr sz="1800">
                <a:solidFill>
                  <a:srgbClr val="333333"/>
                </a:solidFill>
              </a:rPr>
              <a:t>•  \[TBD — additional team members: solutions consultant, DevOps, support engineer]</a:t>
            </a:r>
          </a:p>
          <a:p>
            <a:r>
              <a:rPr sz="1800">
                <a:solidFill>
                  <a:srgbClr val="333333"/>
                </a:solidFill>
              </a:rPr>
              <a:t>**Why us:**</a:t>
            </a:r>
          </a:p>
          <a:p>
            <a:r>
              <a:rPr sz="1800">
                <a:solidFill>
                  <a:srgbClr val="333333"/>
                </a:solidFill>
              </a:rPr>
              <a:t>•  We don't sell ERPNext; we deploy ERPNext the way it should be deployed</a:t>
            </a:r>
          </a:p>
          <a:p>
            <a:r>
              <a:rPr sz="1800">
                <a:solidFill>
                  <a:srgbClr val="333333"/>
                </a:solidFill>
              </a:rPr>
              <a:t>•  Every customization we ship is in our public GitHub — auditable by any Frappe developer</a:t>
            </a:r>
          </a:p>
          <a:p>
            <a:r>
              <a:rPr sz="1800">
                <a:solidFill>
                  <a:srgbClr val="333333"/>
                </a:solidFill>
              </a:rPr>
              <a:t>•  We've run this in a real hospital since 2026; we have the scars to prove it</a:t>
            </a:r>
          </a:p>
          <a:p>
            <a:r>
              <a:rPr sz="1800">
                <a:solidFill>
                  <a:srgbClr val="333333"/>
                </a:solidFill>
              </a:rPr>
              <a:t>•  We document our failures (LEARNINGS.md) — lessons #153, #154, #157 are public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**Three concrete actions. Pick one to start.**</a:t>
            </a:r>
          </a:p>
          <a:p>
            <a:r>
              <a:rPr sz="1800">
                <a:solidFill>
                  <a:srgbClr val="333333"/>
                </a:solidFill>
              </a:rPr>
              <a:t>| Option | What it is | Duration | Cost |</a:t>
            </a:r>
          </a:p>
          <a:p>
            <a:r>
              <a:rPr sz="1800">
                <a:solidFill>
                  <a:srgbClr val="333333"/>
                </a:solidFill>
              </a:rPr>
              <a:t>|---|---|---|---|</a:t>
            </a:r>
          </a:p>
          <a:p>
            <a:r>
              <a:rPr sz="1800">
                <a:solidFill>
                  <a:srgbClr val="333333"/>
                </a:solidFill>
              </a:rPr>
              <a:t>| **1. Pilot deployment** | 4-week trial on our infra, with your data | 4 weeks | \[TBD] |</a:t>
            </a:r>
          </a:p>
          <a:p>
            <a:r>
              <a:rPr sz="1800">
                <a:solidFill>
                  <a:srgbClr val="333333"/>
                </a:solidFill>
              </a:rPr>
              <a:t>| **2. Tailored quote** | Scoping call + line-item quote for your scale | 2–3 days | Free |</a:t>
            </a:r>
          </a:p>
          <a:p>
            <a:r>
              <a:rPr sz="1800">
                <a:solidFill>
                  <a:srgbClr val="333333"/>
                </a:solidFill>
              </a:rPr>
              <a:t>| **3. Reference call** | 30 min with the Haritha Hospitals HR manager | 30 min | Free |</a:t>
            </a:r>
          </a:p>
          <a:p>
            <a:r>
              <a:rPr sz="1800">
                <a:solidFill>
                  <a:srgbClr val="333333"/>
                </a:solidFill>
              </a:rPr>
              <a:t>**Recommended path:**</a:t>
            </a:r>
          </a:p>
          <a:p>
            <a:r>
              <a:rPr sz="1800">
                <a:solidFill>
                  <a:srgbClr val="333333"/>
                </a:solidFill>
              </a:rPr>
              <a:t>1. **This week** — scoping call (30 min) to map your modules + customizations</a:t>
            </a:r>
          </a:p>
          <a:p>
            <a:r>
              <a:rPr sz="1800">
                <a:solidFill>
                  <a:srgbClr val="333333"/>
                </a:solidFill>
              </a:rPr>
              <a:t>2. **Next week** — tailored demo (60 min) with your team + the live system</a:t>
            </a:r>
          </a:p>
          <a:p>
            <a:r>
              <a:rPr sz="1800">
                <a:solidFill>
                  <a:srgbClr val="333333"/>
                </a:solidFill>
              </a:rPr>
              <a:t>3. **Week 3** — pilot proposal with fixed-scope quote</a:t>
            </a:r>
          </a:p>
          <a:p>
            <a:r>
              <a:rPr sz="1800">
                <a:solidFill>
                  <a:srgbClr val="333333"/>
                </a:solidFill>
              </a:rPr>
              <a:t>4. **Week 4** — pilot kick-off OR full-deployment kick-off</a:t>
            </a:r>
          </a:p>
          <a:p>
            <a:r>
              <a:rPr sz="1800">
                <a:solidFill>
                  <a:srgbClr val="333333"/>
                </a:solidFill>
              </a:rPr>
              <a:t>**Implementation timeline:** Q1 next year \[TBD — confirm with client]</a:t>
            </a:r>
          </a:p>
          <a:p>
            <a:r>
              <a:rPr sz="1800">
                <a:solidFill>
                  <a:srgbClr val="333333"/>
                </a:solidFill>
              </a:rPr>
              <a:t>**Pricing model:**</a:t>
            </a:r>
          </a:p>
          <a:p>
            <a:r>
              <a:rPr sz="1800">
                <a:solidFill>
                  <a:srgbClr val="333333"/>
                </a:solidFill>
              </a:rPr>
              <a:t>•  **License:** Free (AGPL — open source)</a:t>
            </a:r>
          </a:p>
          <a:p>
            <a:r>
              <a:rPr sz="1800">
                <a:solidFill>
                  <a:srgbClr val="333333"/>
                </a:solidFill>
              </a:rPr>
              <a:t>•  **Implementation:** One-time, scoped per employee count + modules</a:t>
            </a:r>
          </a:p>
          <a:p>
            <a:r>
              <a:rPr sz="1800">
                <a:solidFill>
                  <a:srgbClr val="333333"/>
                </a:solidFill>
              </a:rPr>
              <a:t>•  **Annual support:** Optional, tiered by response time</a:t>
            </a:r>
          </a:p>
          <a:p>
            <a:r>
              <a:rPr sz="1800">
                <a:solidFill>
                  <a:srgbClr val="333333"/>
                </a:solidFill>
              </a:rPr>
              <a:t>•  **No per-user fees. Ever.**</a:t>
            </a:r>
          </a:p>
          <a:p>
            <a:r>
              <a:rPr sz="1600" i="1">
                <a:solidFill>
                  <a:srgbClr val="666666"/>
                </a:solidFill>
              </a:rPr>
              <a:t>**Speaker note:** End with a single ask. "Pick option 1, 2, or 3 — which one makes sense for where you are today?" Don't push for the pilot on the first call; the scoping call is the right next step for most prospects.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**Pre-loaded answers for common questions.** Full FAQ: [03.3 FAQ](03.3-faq.md)</a:t>
            </a:r>
          </a:p>
          <a:p>
            <a:r>
              <a:rPr sz="1800">
                <a:solidFill>
                  <a:srgbClr val="333333"/>
                </a:solidFill>
              </a:rPr>
              <a:t>| Question | One-line answer |</a:t>
            </a:r>
          </a:p>
          <a:p>
            <a:r>
              <a:rPr sz="1800">
                <a:solidFill>
                  <a:srgbClr val="333333"/>
                </a:solidFill>
              </a:rPr>
              <a:t>|---|---|</a:t>
            </a:r>
          </a:p>
          <a:p>
            <a:r>
              <a:rPr sz="1800">
                <a:solidFill>
                  <a:srgbClr val="333333"/>
                </a:solidFill>
              </a:rPr>
              <a:t>| How long until we're live? | 8 weeks fixed-scope; 4-week pilot available |</a:t>
            </a:r>
          </a:p>
          <a:p>
            <a:r>
              <a:rPr sz="1800">
                <a:solidFill>
                  <a:srgbClr val="333333"/>
                </a:solidFill>
              </a:rPr>
              <a:t>| Can we self-host? | Yes — Docker Compose, any VPS with 4 GB+ RAM |</a:t>
            </a:r>
          </a:p>
          <a:p>
            <a:r>
              <a:rPr sz="1800">
                <a:solidFill>
                  <a:srgbClr val="333333"/>
                </a:solidFill>
              </a:rPr>
              <a:t>| How is data backed up? | 3-2-1 rule, 4×/day cron, SHA256-verified, offsite forever |</a:t>
            </a:r>
          </a:p>
          <a:p>
            <a:r>
              <a:rPr sz="1800">
                <a:solidFill>
                  <a:srgbClr val="333333"/>
                </a:solidFill>
              </a:rPr>
              <a:t>| What if our hospital has 500+ employees? | Frappe scales linearly; community-tested to 10,000 employees |</a:t>
            </a:r>
          </a:p>
          <a:p>
            <a:r>
              <a:rPr sz="1800">
                <a:solidFill>
                  <a:srgbClr val="333333"/>
                </a:solidFill>
              </a:rPr>
              <a:t>| Can our team modify the code? | Yes — any Frappe developer. 274 fixtures, well-documented |</a:t>
            </a:r>
          </a:p>
          <a:p>
            <a:r>
              <a:rPr sz="1800">
                <a:solidFill>
                  <a:srgbClr val="333333"/>
                </a:solidFill>
              </a:rPr>
              <a:t>| Multi-company / multi-currency? | Frappe supports it natively; scope for v2 |</a:t>
            </a:r>
          </a:p>
          <a:p>
            <a:r>
              <a:rPr sz="1800">
                <a:solidFill>
                  <a:srgbClr val="333333"/>
                </a:solidFill>
              </a:rPr>
              <a:t>| Biometric integration? | HRMS Employee Checkin accepts any vendor (ZKTeco, eSSL, Mantra, …) |</a:t>
            </a:r>
          </a:p>
          <a:p>
            <a:r>
              <a:rPr sz="1800">
                <a:solidFill>
                  <a:srgbClr val="333333"/>
                </a:solidFill>
              </a:rPr>
              <a:t>| Multi-language? | Yes — English shipped, Hindi 1-hour import, custom translations via Translation DocType |</a:t>
            </a:r>
          </a:p>
          <a:p>
            <a:r>
              <a:rPr sz="1800">
                <a:solidFill>
                  <a:srgbClr val="333333"/>
                </a:solidFill>
              </a:rPr>
              <a:t>| Mobile app? | Responsive web + HRMS native iOS/Android check-in (geo-fence) |</a:t>
            </a:r>
          </a:p>
          <a:p>
            <a:r>
              <a:rPr sz="1800">
                <a:solidFill>
                  <a:srgbClr val="333333"/>
                </a:solidFill>
              </a:rPr>
              <a:t>| What's the cost? | TBD — depends on employee count + modules. No per-user fees. |</a:t>
            </a:r>
          </a:p>
          <a:p>
            <a:r>
              <a:rPr sz="1800">
                <a:solidFill>
                  <a:srgbClr val="333333"/>
                </a:solidFill>
              </a:rPr>
              <a:t>**If a question comes up you can't answer live:**</a:t>
            </a:r>
          </a:p>
          <a:p>
            <a:r>
              <a:rPr sz="1600" i="1">
                <a:solidFill>
                  <a:srgbClr val="666666"/>
                </a:solidFill>
              </a:rPr>
              <a:t>"Great question — let me note that and get back to you within 24 hours with a detailed answer."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