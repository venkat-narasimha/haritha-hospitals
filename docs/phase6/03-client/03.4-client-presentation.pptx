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1F4E79"/>
                </a:solidFill>
              </a:rPr>
              <a:t>Haritha Hospitals
Powered by ERPNext + HRMS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0.1-what-is-erp-frappe-h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280160"/>
            <a:ext cx="9144000" cy="6036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</a:rPr>
              <a:t>[Visual: 00.1-what-is-erp-frappe-hrms.png]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333333"/>
                </a:solidFill>
              </a:rPr>
              <a:t>1. The challenge we solve</a:t>
            </a:r>
          </a:p>
          <a:p>
            <a:r>
              <a:rPr sz="1800">
                <a:solidFill>
                  <a:srgbClr val="333333"/>
                </a:solidFill>
              </a:rPr>
              <a:t>2. Why ERPNext + HRMS</a:t>
            </a:r>
          </a:p>
          <a:p>
            <a:r>
              <a:rPr sz="1800">
                <a:solidFill>
                  <a:srgbClr val="333333"/>
                </a:solidFill>
              </a:rPr>
              <a:t>3. Shift workflow in action</a:t>
            </a:r>
          </a:p>
          <a:p>
            <a:r>
              <a:rPr sz="1800">
                <a:solidFill>
                  <a:srgbClr val="333333"/>
                </a:solidFill>
              </a:rPr>
              <a:t>4. Shift types + color coding</a:t>
            </a:r>
          </a:p>
          <a:p>
            <a:r>
              <a:rPr sz="1800">
                <a:solidFill>
                  <a:srgbClr val="333333"/>
                </a:solidFill>
              </a:rPr>
              <a:t>5. The Haritha differentiator</a:t>
            </a:r>
          </a:p>
          <a:p>
            <a:r>
              <a:rPr sz="1800">
                <a:solidFill>
                  <a:srgbClr val="333333"/>
                </a:solidFill>
              </a:rPr>
              <a:t>6. Live demo</a:t>
            </a:r>
          </a:p>
          <a:p>
            <a:r>
              <a:rPr sz="1800">
                <a:solidFill>
                  <a:srgbClr val="333333"/>
                </a:solidFill>
              </a:rPr>
              <a:t>7. Customization showcase</a:t>
            </a:r>
          </a:p>
          <a:p>
            <a:r>
              <a:rPr sz="1800">
                <a:solidFill>
                  <a:srgbClr val="333333"/>
                </a:solidFill>
              </a:rPr>
              <a:t>8. Why choose Haritha + ERPNext</a:t>
            </a:r>
          </a:p>
          <a:p>
            <a:r>
              <a:rPr sz="1800">
                <a:solidFill>
                  <a:srgbClr val="333333"/>
                </a:solidFill>
              </a:rPr>
              <a:t>9. Q&amp;A</a:t>
            </a:r>
          </a:p>
          <a:p>
            <a:r>
              <a:rPr sz="1600" i="1">
                <a:solidFill>
                  <a:srgbClr val="666666"/>
                </a:solidFill>
              </a:rPr>
              <a:t>**Speaker note:** Set expectations — "We'll do a live demo in section 6; everything before is context so the demo lands harder."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The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333333"/>
                </a:solidFill>
              </a:rPr>
              <a:t>•  24/7 hospital operations</a:t>
            </a:r>
          </a:p>
          <a:p>
            <a:r>
              <a:rPr sz="1800">
                <a:solidFill>
                  <a:srgbClr val="333333"/>
                </a:solidFill>
              </a:rPr>
              <a:t>•  200+ employees across departments</a:t>
            </a:r>
          </a:p>
          <a:p>
            <a:r>
              <a:rPr sz="1800">
                <a:solidFill>
                  <a:srgbClr val="333333"/>
                </a:solidFill>
              </a:rPr>
              <a:t>•  Shift scheduling errors = patient safety risk</a:t>
            </a:r>
          </a:p>
          <a:p>
            <a:r>
              <a:rPr sz="1800">
                <a:solidFill>
                  <a:srgbClr val="333333"/>
                </a:solidFill>
              </a:rPr>
              <a:t>•  Manual attendance reconciliation</a:t>
            </a:r>
          </a:p>
          <a:p>
            <a:r>
              <a:rPr sz="1800">
                <a:solidFill>
                  <a:srgbClr val="333333"/>
                </a:solidFill>
              </a:rPr>
              <a:t>•  Payroll disputes from shift mismatches</a:t>
            </a:r>
          </a:p>
          <a:p>
            <a:r>
              <a:rPr sz="1800">
                <a:solidFill>
                  <a:srgbClr val="333333"/>
                </a:solidFill>
              </a:rPr>
              <a:t>•  No single source of truth</a:t>
            </a:r>
          </a:p>
          <a:p>
            <a:r>
              <a:rPr sz="1800">
                <a:solidFill>
                  <a:srgbClr val="333333"/>
                </a:solidFill>
              </a:rPr>
              <a:t>(Visuals: pain points with icons — nurse, clock, biometric, dispute, Excel icon, question mark.)</a:t>
            </a:r>
          </a:p>
          <a:p>
            <a:r>
              <a:rPr sz="1600" i="1">
                <a:solidFill>
                  <a:srgbClr val="666666"/>
                </a:solidFill>
              </a:rPr>
              <a:t>**Speaker note:** Pause on "patient safety risk." This is not "an HR headache" — it's the same data that decides who's on shift when an incident happens.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Why ERPNext + HRMS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333333"/>
                </a:solidFill>
              </a:rPr>
              <a:t>•  Open source (no vendor lock-in)</a:t>
            </a:r>
          </a:p>
          <a:p>
            <a:r>
              <a:rPr sz="1800">
                <a:solidFill>
                  <a:srgbClr val="333333"/>
                </a:solidFill>
              </a:rPr>
              <a:t>•  Customizable (your workflows, not the other way)</a:t>
            </a:r>
          </a:p>
          <a:p>
            <a:r>
              <a:rPr sz="1800">
                <a:solidFill>
                  <a:srgbClr val="333333"/>
                </a:solidFill>
              </a:rPr>
              <a:t>•  274 production-validated customizations</a:t>
            </a:r>
          </a:p>
          <a:p>
            <a:r>
              <a:rPr sz="1800">
                <a:solidFill>
                  <a:srgbClr val="333333"/>
                </a:solidFill>
              </a:rPr>
              <a:t>•  Healthcare-specific module available</a:t>
            </a:r>
          </a:p>
          <a:p>
            <a:r>
              <a:rPr sz="1800">
                <a:solidFill>
                  <a:srgbClr val="333333"/>
                </a:solidFill>
              </a:rPr>
              <a:t>•  Active community, 5,000+ contributors</a:t>
            </a:r>
          </a:p>
          <a:p>
            <a:r>
              <a:rPr sz="1800">
                <a:solidFill>
                  <a:srgbClr val="333333"/>
                </a:solidFill>
              </a:rPr>
              <a:t>•  Mobile-first</a:t>
            </a:r>
          </a:p>
          <a:p>
            <a:r>
              <a:rPr sz="1800">
                <a:solidFill>
                  <a:srgbClr val="333333"/>
                </a:solidFill>
              </a:rPr>
              <a:t>•  Multi-company, multi-currency</a:t>
            </a:r>
          </a:p>
          <a:p>
            <a:r>
              <a:rPr sz="1800">
                <a:solidFill>
                  <a:srgbClr val="333333"/>
                </a:solidFill>
              </a:rPr>
              <a:t>(Visuals: comparison table vs SAP / Oracle / spreadsheets)</a:t>
            </a:r>
          </a:p>
          <a:p>
            <a:r>
              <a:rPr sz="1600" i="1">
                <a:solidFill>
                  <a:srgbClr val="666666"/>
                </a:solidFill>
              </a:rPr>
              <a:t>**Speaker note:** If a CFO is in the room, the cost line is the headline. If an IT lead is in the room, "no vendor lock-in" wins. If an HR head is in the room, "HRMS-first" is the 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Shift Workflow — Daily Operations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shot-06-r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280160"/>
            <a:ext cx="9144000" cy="5143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</a:rPr>
              <a:t>source: screenshot-06-roster.png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Shift Types &amp; Color Coding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.2-process-diagram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280160"/>
            <a:ext cx="9144000" cy="580353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</a:rPr>
              <a:t>source: 02.2-process-diagram-05.png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Shift Management — Our Differentiator 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.1-shift-management-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280160"/>
            <a:ext cx="9144000" cy="3492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</a:rPr>
              <a:t>[Visual: 02.1-shift-management-workflow.png]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Live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shot-06-r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280160"/>
            <a:ext cx="9144000" cy="5143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</a:rPr>
              <a:t>[Visual: screenshot-06-roster.png]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Customization Showcase — `haritha_hospital`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.2-process-diagram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280160"/>
            <a:ext cx="9144000" cy="156509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</a:rPr>
              <a:t>[Visual: 02.2-process-diagram-01.png]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Why Choose Haritha + ERPNext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0.2-architecture-overview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280160"/>
            <a:ext cx="9144000" cy="1044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</a:rPr>
              <a:t>source: 00.2-architecture-overview-03.png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4E79"/>
                </a:solidFill>
              </a:rPr>
              <a:t>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2E86A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333333"/>
                </a:solidFill>
              </a:rPr>
              <a:t>[Empty slide with Q&amp;A topics pre-listed]</a:t>
            </a:r>
          </a:p>
          <a:p>
            <a:r>
              <a:rPr sz="1800">
                <a:solidFill>
                  <a:srgbClr val="333333"/>
                </a:solidFill>
              </a:rPr>
              <a:t>**Pre-loaded answers for common questions.** Full FAQ: [03.3 FAQ](03.3-faq.md)</a:t>
            </a:r>
          </a:p>
          <a:p>
            <a:r>
              <a:rPr sz="1800">
                <a:solidFill>
                  <a:srgbClr val="333333"/>
                </a:solidFill>
              </a:rPr>
              <a:t>| Question | One-line answer |</a:t>
            </a:r>
          </a:p>
          <a:p>
            <a:r>
              <a:rPr sz="1800">
                <a:solidFill>
                  <a:srgbClr val="333333"/>
                </a:solidFill>
              </a:rPr>
              <a:t>|---|---|</a:t>
            </a:r>
          </a:p>
          <a:p>
            <a:r>
              <a:rPr sz="1800">
                <a:solidFill>
                  <a:srgbClr val="333333"/>
                </a:solidFill>
              </a:rPr>
              <a:t>| How long until we're live? | 8 weeks fixed-scope; 4-week pilot available |</a:t>
            </a:r>
          </a:p>
          <a:p>
            <a:r>
              <a:rPr sz="1800">
                <a:solidFill>
                  <a:srgbClr val="333333"/>
                </a:solidFill>
              </a:rPr>
              <a:t>| Can we self-host? | Yes — Docker Compose, any VPS with 4 GB+ RAM |</a:t>
            </a:r>
          </a:p>
          <a:p>
            <a:r>
              <a:rPr sz="1800">
                <a:solidFill>
                  <a:srgbClr val="333333"/>
                </a:solidFill>
              </a:rPr>
              <a:t>| How is data backed up? | 3-2-1 rule, 4×/day cron, SHA256-verified, offsite forever |</a:t>
            </a:r>
          </a:p>
          <a:p>
            <a:r>
              <a:rPr sz="1800">
                <a:solidFill>
                  <a:srgbClr val="333333"/>
                </a:solidFill>
              </a:rPr>
              <a:t>| What if our hospital has 500+ employees? | Frappe scales linearly; community-tested to 10,000 employees |</a:t>
            </a:r>
          </a:p>
          <a:p>
            <a:r>
              <a:rPr sz="1800">
                <a:solidFill>
                  <a:srgbClr val="333333"/>
                </a:solidFill>
              </a:rPr>
              <a:t>| Can our team modify the code? | Yes — any Frappe developer. 274 fixtures, well-documented |</a:t>
            </a:r>
          </a:p>
          <a:p>
            <a:r>
              <a:rPr sz="1800">
                <a:solidFill>
                  <a:srgbClr val="333333"/>
                </a:solidFill>
              </a:rPr>
              <a:t>| Multi-company / multi-currency? | Frappe supports it natively; scope for v2 |</a:t>
            </a:r>
          </a:p>
          <a:p>
            <a:r>
              <a:rPr sz="1800">
                <a:solidFill>
                  <a:srgbClr val="333333"/>
                </a:solidFill>
              </a:rPr>
              <a:t>| Biometric integration? | HRMS Employee Checkin accepts any vendor (ZKTeco, eSSL, Mantra, …) |</a:t>
            </a:r>
          </a:p>
          <a:p>
            <a:r>
              <a:rPr sz="1800">
                <a:solidFill>
                  <a:srgbClr val="333333"/>
                </a:solidFill>
              </a:rPr>
              <a:t>| Multi-language? | Yes — English shipped, Hindi 1-hour import, custom translations via Translation DocType |</a:t>
            </a:r>
          </a:p>
          <a:p>
            <a:r>
              <a:rPr sz="1800">
                <a:solidFill>
                  <a:srgbClr val="333333"/>
                </a:solidFill>
              </a:rPr>
              <a:t>| Mobile app? | Responsive web + HRMS native iOS/Android check-in (geo-fence) |</a:t>
            </a:r>
          </a:p>
          <a:p>
            <a:r>
              <a:rPr sz="1800">
                <a:solidFill>
                  <a:srgbClr val="333333"/>
                </a:solidFill>
              </a:rPr>
              <a:t>| What's the cost? | Depends on employee count + modules. No per-user fees. |</a:t>
            </a:r>
          </a:p>
          <a:p>
            <a:r>
              <a:rPr sz="1800">
                <a:solidFill>
                  <a:srgbClr val="333333"/>
                </a:solidFill>
              </a:rPr>
              <a:t>**If a question comes up you can't answer live:**</a:t>
            </a:r>
          </a:p>
          <a:p>
            <a:r>
              <a:rPr sz="1600" i="1">
                <a:solidFill>
                  <a:srgbClr val="666666"/>
                </a:solidFill>
              </a:rPr>
              <a:t>"Great question — let me note that and get back to you within 24 hours with a detailed answer."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