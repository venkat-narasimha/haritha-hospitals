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F4E79"/>
                </a:solidFill>
              </a:rPr>
              <a:t>Haritha Hospitals
Powered by ERPNext + HRMS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**Haritha Hospitals — Process &amp; Workforce, Streamlined**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*Built on ERPNext + HRMS, customized for hospital operations*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**Platform:** ERPNext v16.30.0 + HRMS v16.5.0 + custom app `haritha_hospital`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**Live in production:** 210+ employees · 25 shift types · 8,000+ shift assignments · 6,300+ attendance records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**Customizations:** 274 production-validated fixtures (all version-controlled)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**Date:** \[Insert date]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**Presenter:** Venkat Narasimha · Processbricks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Open with the one-line value prop: "Process + Workforce in one system, running in a real hospital since 2026." Don't lead with "what is ERP" — that's slide 4 if anyone 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1. The challenge we solve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2. Why ERPNext + HRMS (and not SAP / Oracle / spreadsheets)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3. Haritha platform overview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4. HRMS module tour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5. Shift management — our differentiator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6. **Live demo:** Roster → Attendance → Payroll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7. Customization showcase — `haritha_hospital` app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8. Business impact (real Haritha data)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9. Implementation methodology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10. Reference deployments &amp; team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11. Next steps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12. Q&amp;A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Numbered timeline strip across the bottom of the slide. Mark "Live demo" with a star.]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Set expectations — "We'll do a live demo in section 6; everything before is context so the demo lands harder. Section 8 has the actual numbers from our hospital."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**Hospital operations don't run 9-to-5. Most HR systems do.**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**24/7 operations** — ICU night, emergency, security all need rostered coverage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**200+ employees across 36 departments** (Nursing, Pharmacy, Lab, Housekeeping, Security, Admin, Billing, …)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**Shift scheduling errors = patient safety risk** (not just an HR problem)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**Manual attendance reconciliation** — phone calls, paper registers, biometric logs that don't match HR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**Payroll disputes** from shift mismatches and missed punch corrections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**No single source of truth** — same employee lives in 3 systems (biometric, Excel, payroll tool)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6 pain-point icons in a 2×3 grid. Use hospital-appropriate imagery: nurse, clock, biometric, payroll, Excel icon, question mark.]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Pause on "patient safety risk." This is not "an HR headache" — it's the same data that decides who's on shift when an incident happens. If anyone asks "why not stick with Excel?", the answer is "Excel doesn't audit, doesn't alert, doesn't survive a server crash, and doesn't run payroll."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Why ERPNext + HRMS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| **Haritha ERPNext** | SAP S/4HANA | Oracle NetSuite | MS Dynamics | Excel + paper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|---|---|---|---|---|---|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**License** | Free (AGPL) | $$$$ per-user | $$$$ per-user | $$$$ per-user | Free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**HRMS depth** | Excellent (first-class) | Strong | Strong | Strong | None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**India-aware (GST, TDS, PF, ESI)** | Built-in | Localized | Localized | Localized | Manual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**Vendor lock-in** | None | High | Medium | Medium | Total (your spreadsheets)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**Implementation time** | 1–2 weeks | 6–18 months | 3–9 months | 3–9 months | n/a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**3-yr total cost of ownership** | Low [TBD — benchmark TBD] | Very high | High | High | Hidden (audit risk, errors)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**Customizable without forking** | ✅ Custom Fields + custom app | ❌ | ❌ | ❌ | n/a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**Audit trail out of the box** | ✅ | ✅ | ✅ | ✅ | ❌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**Mobile check-in with geo-fence** | ✅ HRMS app | Add-on | Add-on | Add-on | ❌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**Why we picked ERPNext:**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1. **Open source** — no per-user fees, no "call us to unlock your data"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2. **HRMS-first** — HR is a first-class module, not bolted on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3. **India-aware** — PF, ESI, TDS, Professional Tax, e-invoicing built in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4. **Customizable without forking core** — 274 customizations, zero patches to upstream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5. **Self-hostable** — full data ownership, your GitHub, your MariaDB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6. **Active community** — Frappe has 5,000+ contributors; HRMS is maintained by Frappe's own team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Comparison table dominates the slide. Highlight the "Haritha ERPNext" column in green.]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If a CFO is in the room, the cost line is the headline. If an IT lead is in the room, "no vendor lock-in" + "your GitHub" wins. If an HR head is in the room, "HRMS-first" + "shift management built in" is the line. Pick the line that fits the room.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Haritha Platform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**What the diagram says, in plain English:**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**3 environments** — prod (`pberpprod`), dev (`pberpdev`), Venkat's own prototyping stack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**9 Docker containers per env** — gunicorn + nginx + scheduler + 2 workers + websocket + 2 redis + MariaDB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**`haritha_hospital` custom app** — installed in any env with one `bench install-app`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**3-2-1 backup** — 4×/day cron, local 7-day retention, offsite forever retention, SHA256-verified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**Single DNS, TLS at the edge** — Let's Encrypt + DuckDNS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**GitHub as source of truth** — workspace + custom app, both version-controlled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Don't read the diagram line-by-line. Walk them through the request path in 30 seconds: "Browser → DuckDNS → nginx → frontend nginx → gunicorn → MariaDB. That's it. The interesting parts are what runs *inside* gunicorn (the custom app) and what survives if gunicorn dies (the named volumes + offsite backup)."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HRMS Modules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**13 modules, one HRMS app, all integrated.**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Module | What it does | Haritha status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|---|---|---|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**Employee Lifecycle** | Master record, onboarding, exits | ✅ Live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**Leave &amp; Attendance** | 7 leave types, auto + manual attendance | ✅ Live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**Shift Management** ⭐ | 25 shift types, color-coded Roster SPA | ✅ Live · differentiator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**Payroll &amp; Taxation** | Salary slips, PF, ESI, TDS, Professional Tax | ✅ Live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**Expense Claims** | Employee expense submission + approval | ✅ Live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**Holidays** | Per-company + per-employee calendars | ✅ Live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**Employee Checkin** | Biometric / mobile / manual log | ✅ Live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**Performance** | Goal setting, KRAs, reviews | 🟡 Installed, not configured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**Recruitment** | Job Opening → Applicant → Interview → Offer | 🟡 Installed, not configured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**Training** | Programs, Events, Results, Feedback | 🟡 Installed, not configured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**Loans &amp; Advances** | Employee loans with EMI recovery | 🟡 Available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**Tax Declarations** | Employee TDS declarations + proofs | 🟡 Available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**Mobile App** | iOS / Android HRMS check-in (geo-fence) | ✅ Live |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3×5 grid of icons. Highlight "Shift Management" with a star and accent color.]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The HRMS app ships with all 13. We've configured 7 of them for production use. The other 6 are installed but not active — we can activate them in your deployment as your team grows. **Do not** demo the grey ones; say "available, not yet activated" if asked (see 03.2 demo script §"What NOT to show").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Shift Management — Our Differentiator 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**The single most-used screen at Haritha. The HR manager opens this first thing every morning.**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**25 predefined shift types** with a strict 10-character naming convention: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  - `G0900R0830` → General, 09:00 start, Regular, 8h 30m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  - `M0600R0830` → Morning, 06:00 start (ICU ward)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  - `A1200R0830` → Afternoon, 12:00 start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  - `N2000R1200` → Night, 20:00 start, 12h (ICU night, crosses midnight)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**Color-coded Roster SPA** (Vue 3 + Tailwind) — G/M/A/N map to blue/green/orange/violet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**Monthly grid** at `/hr/roster` — every employee × every day, instant visual coverage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**Drag-and-drop reassignment** for sudden absences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**Geo-fenced check-in** — 200m radius around the Hyderabad hospital location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**Auto-attendance** — scheduler reads `Employee Checkin` every minute, pairs IN/OUT, marks Present / Absent / On Leave / Half Day / Holiday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**Grace periods** — 60 min early-in, 60 min late-out, 5-hour half-day threshold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**Shift swap requests** — multi-level approval via custom field `shift_request_approver`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**Holiday-aware** — scheduled shift on a holiday auto-marks as "Holiday" (paid)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Real Roster screenshot (replace in production). Color legend: G=blue, M=green, A=orange, N=violet, —=grey (no assignment).]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The 10-character naming is the unsexy detail that matters. It means a new shift type is created in 30 seconds with zero ambiguity — no "wait, is this Morning or Afternoon?" emails. Mention the Tailwind lowercase-color gotcha (LEARNINGS #157) only if asked about reliability.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**Browser open. Share screen. Chrome. https://pberpprod.duckdns.org/**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**Demo flow (≈25 min — follow [03.2 Demo Script §60-min version](../../03-client/03.2-demo-script.md)):**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# | Screen | What to show | Time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|---|---|---|---|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1 | Login → Desk | Single sign-on, role-based workspace | 2 min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2 | Company record | `default_payroll_payable_account` + custom fields | 3 min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3 | Employee list → filter by Department | 210 employees · 36 departments · attendance_device_id | 3 min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4 | Open Employee `HR-EMP-00001` | 78 custom fields visible (PAN, IFSC, approvers, default shift) | 4 min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5 | Shift Type list | 25 codes, lowercase Tailwind colors | 3 min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6 | **`/hr/roster`** — the headline | Month grid, color-coded, filter by department | 5 min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7 | Attendance list | Auto-marked from biometric, manual override | 3 min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8 | Salary Slip / Payroll Entry | PF, ESI, TDS, one-click generate for whole company | 4 min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9 | HR Analytics — Monthly Attendance Sheet | Built-in report, Excel export | 2 min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**Selling points to weave in:**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"210 employees, 8,000+ shift assignments — this is real hospital scale"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"274 customizations, all version-controlled in GitHub"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"Color-coded Roster — instant visual coverage, no spreadsheet"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"Auto-attendance saves hours/day vs manual registers"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"One-click payroll — 200 employees, 30 seconds"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9-step screenshot strip with arrows. Star on step 6 (Roster).]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**Run the pre-demo smoke test 5 min before** (03.2 §"Pre-demo smoke test"): curl the URL, login with `Administrator`/`admin123`, confirm the Roster renders, check Roster SPA assets are served. Have the offline-screenshot fallback ready in case the network drops mid-demo. If the Roster SPA crashes with "Cannot read properties of undefined", that's a Shift Type with an uppercase color (LEARNINGS #157) — `UPDATE tabShift Type SET color='blue' WHERE color='Blue'`.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Customization Showcase — `haritha_hospital`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**274 customizations. All in Git. All deployable. All version-controlled.**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Type | Count | Examples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|---|---|---|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**Custom Fields** | 78 | Employee.default_shift, Employee.attendance_device_id, Company.default_payroll_payable_account, Department.payroll_cost_center, Shift Type color dropdown options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**Property Setters** | 189 | Shift Type-color options restricted to lowercase Tailwind palette, defaults, field visibility tweaks, mandatory flags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**Print Formats** | 3 | Salary Slip (branded), Experience Letter, Appointment Letter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**Notifications** | 2 | Training Scheduled, Leave Approval state-change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**Letter Heads** | 2 | Hospital letterhead on official documents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**Total** | **274** | All in `apps/haritha_hospital/haritha_hospital/fixtures/*.json`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**Reproduce any environment from scratch in 3 commands:**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Result: same customizations on dev, staging, prod, future replicas. No manual re-clicking through the UI.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GitHub repo screenshot on left (showing `fixtures/` directory). Pie chart on right: 78 / 189 / 3 / 2 / 2.]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"Property Setters" sounds boring but is the lever that prevents the entire class of Roster-crash bugs from happening again. If the room is technical, dwell here. If not, move on — the demo on slide 8 already showed the visible custom fields.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Business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**Real numbers from Haritha's production deployment. \[TBD] = pending customer pilot benchmark.**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Metric | Before (typical) | After (Haritha today) | Source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|---|---|---|---|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**Employees on system** | n/a | 210 active | 03.1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**Shift assignments managed** | n/a | 8,000+ across 25 shifts | 03.1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**Attendance records processed** | n/a | 6,300+ monthly | 03.1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**Departments** | n/a | 36 | 03.1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**Designations** | n/a | 51 | 03.1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**Auto-attendance latency** | Manual end-of-day | ≤ 60 seconds (every-minute scheduler) | 02.1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**Payroll generation time** | \[TBD] | 30 sec for 200 slips (one-click) | 03.2 §11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**Shift visibility (manager view)** | Manual register / Excel | 100% via Roster SPA | 03.1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**Audit trail** | None | Every change: author + timestamp + before/after | 03.3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**Backup recovery (RTO / RPO)** | \[TBD] | 2 hours / 24 hours (documented &amp; tested) | 03.3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**TCO vs SAP (industry benchmark)** | n/a | \[TBD — benchmark TBD] | —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**Onboarding new employee** | \[TBD] | ≤ 1 day (single Employee record + Shift Assignment) | 02.1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**Statutory reports (PF, ESI, TDS)** | Manual Excel | Generated on demand from Salary Slips | 03.3 |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KPI dashboard mockup with the "after" column populated. Highlight the 4 most-impressive numbers in green.]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Be honest about the \[TBD]s. "We have the deployment data; the *benchmark* numbers — like TCO vs SAP — we haven't published. We'll commit to those as part of the pilot." This honesty is more credible than making up percentages.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Implementation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**8-week timeline. Fixed scope, fixed deliverables.**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Week | Phase | Deliverable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|---|---|---|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1–2 | **Discovery + requirements** | Scoping doc, module list, customization gap analysis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3 | **Dev environment + custom app install** | Your `yourhospital.duckdns.org` live with 274 fixtures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4 | **Master data migration** | Employees, shifts, holidays, leave types, salary structures loaded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5–6 | **User training + UAT** | HR team trained (admin + daily-user), test scripts executed, sign-off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7 | **Go-live** | DNS cutover, smoke test, hypercare begins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8 | **Hypercare + handover** | Daily standups, hot-fix window, support contract starts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**What we bring:**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Migration script `migrate_master_data.py` — replays our prod data into your env in minutes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274 fixtures pre-installed in the `haritha_hospital` custom app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Runbooks (deployment, daily ops, incident response, disaster recovery) — yours to keep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1-day on-site or remote workshop for HR + IT admin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Train-the-trainer model — your HR Manager trains their team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**What you bring:**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CSV exports of current employee, shift, leave data (we provide templates)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1 IT admin for cutover weekend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1 HR Manager as primary UAT tester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VPN / SSH access for deployment (or we deploy to a VPS you provide)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Gantt-style timeline strip across the slide. Highlight Week 8 (hypercare) as "we don't disappear after go-live".]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"8 weeks is for a single-site deployment. If you're a hospital chain, we scope multi-company in week 1. If you're migrating from SAP or another HRMS, add 1–2 weeks for data cleanup. We've documented this migration pattern at `migrate_master_data.py` — idempotent, re-runnable, no duplicates."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Reference Deployments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**Frappe + ERPNext + HRMS is widely deployed in Indian hospitals. We're one of them.**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Reference | Deployment | What they did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|---|---|---|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**Haritha Hospitals** (us) | ERPNext + HRMS + `haritha_hospital` custom app | 210 employees, 24/7 hospital, 8 months in production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Other Indian hospital deployments on ERPNext | Various Frappe partners | Multi-site, OPD billing, lab integration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\[TBD — add 2–3 named reference deployments from NestorBird / Ksolves / Contetra if available; otherwise leave as category-level evidence.]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**Why open source + ERPNext + healthcare is a known-good combination:**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Frappe Healthcare module is upstream-supported (frappe.io/erpnext/for-healthcare)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Frappe HRMS Shifts &amp; Attendance is upstream-supported (frappe.io/hr/shifts-and-attendance)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Multiple Frappe partners in India specialize in hospital deployments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ERPNext Conference community (2022+) regularly features hospital case studies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Logos of reference deployments + 1-line each. If logos unavailable, use a "TBD" placeholder grid.]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"We can't publish named customer logos without their permission — that's why the slide is category-level. We're happy to set up a reference call once you're further along in the evaluation."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Our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**Processbricks — domain expertise meets open-source delivery.**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**Venkat Narasimha** — Lead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  - 10+ years in HR tech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  - Open-source contributor (Frappe / ERPNext / HRMS)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  - Architect of the Haritha Hospitals deployment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  - Contact: srivenkatnarasimha@gmail.com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\[TBD — additional team members: solutions consultant, DevOps, support engineer]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**Why us:**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We don't sell ERPNext; we deploy ERPNext the way it should be deployed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Every customization we ship is in our public GitHub — auditable by any Frappe developer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We've run this in a real hospital since 2026; we have the scars to prove it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We document our failures (LEARNINGS.md) — lessons #153, #154, #157 are public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Team photos in a row. Processbricks logo. Tagline: "Domain expertise meets open-source delivery."]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**Three concrete actions. Pick one to start.**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Option | What it is | Duration | Cost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|---|---|---|---|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**1. Pilot deployment** | 4-week trial on our infra, with your data | 4 weeks | \[TBD]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**2. Tailored quote** | Scoping call + line-item quote for your scale | 2–3 days | Free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**3. Reference call** | 30 min with the Haritha Hospitals HR manager | 30 min | Free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**Recommended path:**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1. **This week** — scoping call (30 min) to map your modules + customizations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2. **Next week** — tailored demo (60 min) with your team + the live system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3. **Week 3** — pilot proposal with fixed-scope quote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4. **Week 4** — pilot kick-off OR full-deployment kick-off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**Implementation timeline:** Q1 next year \[TBD — confirm with client]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**Pricing model:**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**License:** Free (AGPL — open source)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**Implementation:** One-time, scoped per employee count + modules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**Annual support:** Optional, tiered by response time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33333"/>
                </a:solidFill>
              </a:rPr>
              <a:t>•  **No per-user fees. Ever.**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Three "next step" cards in a row, each with an icon (pilot / quote / reference call). CTA button: "Book scoping call."]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**Speaker note:** End with a single ask. "Pick option 1, 2, or 3 — which one makes sense for where you are today?" Don't push for the pilot on the first call; the scoping call is the right next step for most prospects.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**Pre-loaded answers for common questions.** Full FAQ: [03.3 FAQ](03.3-faq.md)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Question | One-line answer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|---|---|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How long until we're live? | 8 weeks fixed-scope; 4-week pilot available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Can we self-host? | Yes — Docker Compose, any VPS with 4 GB+ RAM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How is data backed up? | 3-2-1 rule, 4×/day cron, SHA256-verified, offsite forever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What if our hospital has 500+ employees? | Frappe scales linearly; community-tested to 10,000 employees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Can our team modify the code? | Yes — any Frappe developer. 274 fixtures, well-documented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Multi-company / multi-currency? | Frappe supports it natively; scope for v2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Biometric integration? | HRMS Employee Checkin accepts any vendor (ZKTeco, eSSL, Mantra, …)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Multi-language? | Yes — English shipped, Hindi 1-hour import, custom translations via Translation DocType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Mobile app? | Responsive web + HRMS native iOS/Android check-in (geo-fence)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| What's the cost? | TBD — depends on employee count + modules. No per-user fees. |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33333"/>
                </a:solidFill>
              </a:rPr>
              <a:t>**If a question comes up you can't answer live:**</a:t>
            </a:r>
          </a:p>
          <a:p>
            <a:pPr>
              <a:spcAft>
                <a:spcPts val="400"/>
              </a:spcAft>
            </a:pPr>
            <a:r>
              <a:rPr sz="1800" i="1">
                <a:solidFill>
                  <a:srgbClr val="666666"/>
                </a:solidFill>
              </a:rPr>
              <a:t>"Great question — let me note that and get back to you within 24 hours with a detailed answer."</a:t>
            </a:r>
          </a:p>
          <a:p>
            <a:pPr>
              <a:spcAft>
                <a:spcPts val="600"/>
              </a:spcAft>
            </a:pPr>
            <a:r>
              <a:rPr sz="1400" i="1">
                <a:solidFill>
                  <a:srgbClr val="666666"/>
                </a:solidFill>
              </a:rPr>
              <a:t>→  [Visual: Empty slide with the FAQ table as a quick-reference card. Q&amp;A topics listed on the left as "parking lot."]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